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Open Sans" panose="020B0606030504020204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7" autoAdjust="0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41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2988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10" Type="http://schemas.openxmlformats.org/officeDocument/2006/relationships/image" Target="../media/image4.png"/><Relationship Id="rId4" Type="http://schemas.openxmlformats.org/officeDocument/2006/relationships/image" Target="../media/image6.svg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splendorous-madeleine-e00b99.netlify.app/" TargetMode="External"/><Relationship Id="rId5" Type="http://schemas.openxmlformats.org/officeDocument/2006/relationships/hyperlink" Target="https://github.com/MayuriUbale123/ICU-Ambulance" TargetMode="Externa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RAGHAV DIGITAL\Downloads\new svg.png">
            <a:extLst>
              <a:ext uri="{FF2B5EF4-FFF2-40B4-BE49-F238E27FC236}">
                <a16:creationId xmlns:a16="http://schemas.microsoft.com/office/drawing/2014/main" id="{5FD83ECF-086C-120B-1810-00DC271CF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0620" y="89989"/>
            <a:ext cx="813380" cy="1198888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F590B2-68C4-F31E-8B26-8A6AE7019A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05184" y="0"/>
            <a:ext cx="2446446" cy="11700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A31BAA4-218F-82EA-1FF4-C8E2229FE66A}"/>
              </a:ext>
            </a:extLst>
          </p:cNvPr>
          <p:cNvSpPr txBox="1"/>
          <p:nvPr/>
        </p:nvSpPr>
        <p:spPr>
          <a:xfrm>
            <a:off x="4789984" y="320101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ARENA 1.0</a:t>
            </a:r>
            <a:endParaRPr lang="en-IN" sz="3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B53B53-68F4-4755-AA76-DBD03F73BBA4}"/>
              </a:ext>
            </a:extLst>
          </p:cNvPr>
          <p:cNvSpPr/>
          <p:nvPr/>
        </p:nvSpPr>
        <p:spPr>
          <a:xfrm>
            <a:off x="12566713" y="7693404"/>
            <a:ext cx="1984917" cy="46517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FB0AB9-E48C-179E-7BA1-BA032C46A088}"/>
              </a:ext>
            </a:extLst>
          </p:cNvPr>
          <p:cNvSpPr txBox="1"/>
          <p:nvPr/>
        </p:nvSpPr>
        <p:spPr>
          <a:xfrm>
            <a:off x="743675" y="1770953"/>
            <a:ext cx="12624756" cy="3962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endParaRPr lang="en-US"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Title-  </a:t>
            </a:r>
            <a:r>
              <a:rPr lang="en-US" sz="2800" dirty="0"/>
              <a:t>Real-Time ICU Bed and Ambulance Tracking System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 – </a:t>
            </a:r>
            <a:r>
              <a:rPr lang="en-IN" sz="2800"/>
              <a:t>Smart Healthcare</a:t>
            </a:r>
            <a:endParaRPr lang="en-US" sz="2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 - </a:t>
            </a:r>
            <a:r>
              <a:rPr lang="en-IN" sz="2800" dirty="0"/>
              <a:t>Software</a:t>
            </a:r>
            <a:endParaRPr lang="en-US" sz="2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–  MEDITRACK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5EC4D3F-272E-4C3A-C16F-DA9664F3C27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3752624" y="1918878"/>
            <a:ext cx="6606859" cy="46984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79677" y="553641"/>
            <a:ext cx="6988016" cy="46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                The Critical Problem vs MediTrack Solution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2179677" y="1262896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The Critical Problem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2179677" y="1605320"/>
            <a:ext cx="4953953" cy="1037392"/>
          </a:xfrm>
          <a:prstGeom prst="roundRect">
            <a:avLst>
              <a:gd name="adj" fmla="val 602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336125" y="1761768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The "Golden Hour"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2336125" y="2091928"/>
            <a:ext cx="4641056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first 60 minutes after trauma determine patient survival rates. Every second counts.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179677" y="2740343"/>
            <a:ext cx="4953953" cy="1037392"/>
          </a:xfrm>
          <a:prstGeom prst="roundRect">
            <a:avLst>
              <a:gd name="adj" fmla="val 602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336125" y="2896791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Manual Bed Search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336125" y="3226951"/>
            <a:ext cx="4641056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Patients and responders must call multiple hospitals individually to check ICU availability.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179677" y="3875365"/>
            <a:ext cx="4953953" cy="1037392"/>
          </a:xfrm>
          <a:prstGeom prst="roundRect">
            <a:avLst>
              <a:gd name="adj" fmla="val 602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336125" y="4031813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Fleet Inefficiency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336125" y="4361974"/>
            <a:ext cx="4641056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Ambulances waste precious time navigating without real-time routing based on actual road distance.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504390" y="1262896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MediTrack Solution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504390" y="1605320"/>
            <a:ext cx="4953953" cy="1052632"/>
          </a:xfrm>
          <a:prstGeom prst="roundRect">
            <a:avLst>
              <a:gd name="adj" fmla="val 6949"/>
            </a:avLst>
          </a:prstGeom>
          <a:solidFill>
            <a:srgbClr val="FFFCFA"/>
          </a:solidFill>
          <a:ln w="1524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489150" y="1605320"/>
            <a:ext cx="60960" cy="1052632"/>
          </a:xfrm>
          <a:prstGeom prst="roundRect">
            <a:avLst>
              <a:gd name="adj" fmla="val 102558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714178" y="1769388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Unified Live Dashboard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714178" y="2099548"/>
            <a:ext cx="4580096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ICU bed availability across all city hospitals displayed on a single interface.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504390" y="2755583"/>
            <a:ext cx="4953953" cy="1052632"/>
          </a:xfrm>
          <a:prstGeom prst="roundRect">
            <a:avLst>
              <a:gd name="adj" fmla="val 6949"/>
            </a:avLst>
          </a:prstGeom>
          <a:solidFill>
            <a:srgbClr val="FFFCFA"/>
          </a:solidFill>
          <a:ln w="1524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489150" y="2755583"/>
            <a:ext cx="60960" cy="1052632"/>
          </a:xfrm>
          <a:prstGeom prst="roundRect">
            <a:avLst>
              <a:gd name="adj" fmla="val 102558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714178" y="2919651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Intelligent GPS Routing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714178" y="3249811"/>
            <a:ext cx="4580096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Dynamic ambulance routing based on actual road distance and traffic conditions.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504390" y="3905845"/>
            <a:ext cx="4953953" cy="1052632"/>
          </a:xfrm>
          <a:prstGeom prst="roundRect">
            <a:avLst>
              <a:gd name="adj" fmla="val 6949"/>
            </a:avLst>
          </a:prstGeom>
          <a:solidFill>
            <a:srgbClr val="FFFCFA"/>
          </a:solidFill>
          <a:ln w="1524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489150" y="3905845"/>
            <a:ext cx="60960" cy="1052632"/>
          </a:xfrm>
          <a:prstGeom prst="roundRect">
            <a:avLst>
              <a:gd name="adj" fmla="val 102558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714178" y="4069913"/>
            <a:ext cx="1873925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Zero-Build Architecture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714178" y="4400074"/>
            <a:ext cx="4580096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Client-side implementation using browser memory (LocalStorage) for disaster resilience.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504390" y="5056108"/>
            <a:ext cx="4953953" cy="1052632"/>
          </a:xfrm>
          <a:prstGeom prst="roundRect">
            <a:avLst>
              <a:gd name="adj" fmla="val 6949"/>
            </a:avLst>
          </a:prstGeom>
          <a:solidFill>
            <a:srgbClr val="FFFCFA"/>
          </a:solidFill>
          <a:ln w="1524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489150" y="5056108"/>
            <a:ext cx="60960" cy="1052632"/>
          </a:xfrm>
          <a:prstGeom prst="roundRect">
            <a:avLst>
              <a:gd name="adj" fmla="val 102558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714178" y="5220176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Web Audio Alerts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714178" y="5550337"/>
            <a:ext cx="4580096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Native browser audio notifications for critical emergency updates and notifications.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504390" y="6206371"/>
            <a:ext cx="4953953" cy="1052632"/>
          </a:xfrm>
          <a:prstGeom prst="roundRect">
            <a:avLst>
              <a:gd name="adj" fmla="val 6949"/>
            </a:avLst>
          </a:prstGeom>
          <a:solidFill>
            <a:srgbClr val="FFFCFA"/>
          </a:solidFill>
          <a:ln w="1524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7489150" y="6206371"/>
            <a:ext cx="60960" cy="1052632"/>
          </a:xfrm>
          <a:prstGeom prst="roundRect">
            <a:avLst>
              <a:gd name="adj" fmla="val 102558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714178" y="6370439"/>
            <a:ext cx="207264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Role-Based Access Control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714178" y="6700599"/>
            <a:ext cx="4580096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Secure RBAC system with distinct portals for Admin, Patient, and Driver roles.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179677" y="7478792"/>
            <a:ext cx="10271046" cy="197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A95B9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Critical time lost during emergencies when patients need ICU beds instantly.</a:t>
            </a:r>
            <a:endParaRPr lang="en-US" sz="115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2C22539-3BF6-4743-17D2-A64FE2690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5184" y="0"/>
            <a:ext cx="2446446" cy="1170039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E8DCDD8B-18FC-C82F-4A8B-BC105812C8E3}"/>
              </a:ext>
            </a:extLst>
          </p:cNvPr>
          <p:cNvSpPr/>
          <p:nvPr/>
        </p:nvSpPr>
        <p:spPr>
          <a:xfrm>
            <a:off x="12566713" y="7693404"/>
            <a:ext cx="1984917" cy="46517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00F8BA-B6A1-8940-9314-BE4B47085551}"/>
              </a:ext>
            </a:extLst>
          </p:cNvPr>
          <p:cNvSpPr txBox="1"/>
          <p:nvPr/>
        </p:nvSpPr>
        <p:spPr>
          <a:xfrm>
            <a:off x="129607" y="124787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⊹ </a:t>
            </a:r>
            <a:r>
              <a:rPr lang="en-IN" b="1" dirty="0"/>
              <a:t>MediTrack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00E79744-D2C5-197D-71F3-2ECB3C7C9AC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3752624" y="1707005"/>
            <a:ext cx="6606859" cy="46984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1460" y="523161"/>
            <a:ext cx="4430197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Technology Stack and Methodology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1201460" y="1422916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Technology Stack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201460" y="1855470"/>
            <a:ext cx="5897523" cy="1320046"/>
          </a:xfrm>
          <a:prstGeom prst="roundRect">
            <a:avLst>
              <a:gd name="adj" fmla="val 8312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178600" y="1855470"/>
            <a:ext cx="91440" cy="1320046"/>
          </a:xfrm>
          <a:prstGeom prst="roundRect">
            <a:avLst>
              <a:gd name="adj" fmla="val 81395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470065" y="2055495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Vanilla Web Stack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70065" y="2470666"/>
            <a:ext cx="542889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HTML5, CSS3, Vanilla JavaScript (ES6+) for maximum speed and universal compatibility.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201460" y="3313867"/>
            <a:ext cx="5897523" cy="1320046"/>
          </a:xfrm>
          <a:prstGeom prst="roundRect">
            <a:avLst>
              <a:gd name="adj" fmla="val 8312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178600" y="3313867"/>
            <a:ext cx="91440" cy="1320046"/>
          </a:xfrm>
          <a:prstGeom prst="roundRect">
            <a:avLst>
              <a:gd name="adj" fmla="val 81395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470065" y="3513892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Map &amp; Routing Engine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70065" y="3929063"/>
            <a:ext cx="542889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Leaflet.js integrated with Geolocation API for real-time GPS tracking and routing.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201460" y="4772263"/>
            <a:ext cx="5897523" cy="1320046"/>
          </a:xfrm>
          <a:prstGeom prst="roundRect">
            <a:avLst>
              <a:gd name="adj" fmla="val 8312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178600" y="4772263"/>
            <a:ext cx="91440" cy="1320046"/>
          </a:xfrm>
          <a:prstGeom prst="roundRect">
            <a:avLst>
              <a:gd name="adj" fmla="val 81395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470065" y="4972288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Audio Interface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70065" y="5387459"/>
            <a:ext cx="542889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 Audio API for critical alert notifications and emergency sound cues.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201460" y="6230660"/>
            <a:ext cx="5897523" cy="1320046"/>
          </a:xfrm>
          <a:prstGeom prst="roundRect">
            <a:avLst>
              <a:gd name="adj" fmla="val 8312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178600" y="6230660"/>
            <a:ext cx="91440" cy="1320046"/>
          </a:xfrm>
          <a:prstGeom prst="roundRect">
            <a:avLst>
              <a:gd name="adj" fmla="val 81395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470065" y="6430685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 Architecture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70065" y="6845856"/>
            <a:ext cx="542889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LocalStorage-based persistence with JWT-style secure routing logic.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538799" y="1422916"/>
            <a:ext cx="283702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Implementation Methodology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538799" y="1855470"/>
            <a:ext cx="5897523" cy="1320046"/>
          </a:xfrm>
          <a:prstGeom prst="roundRect">
            <a:avLst>
              <a:gd name="adj" fmla="val 8312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515939" y="1855470"/>
            <a:ext cx="91440" cy="1320046"/>
          </a:xfrm>
          <a:prstGeom prst="roundRect">
            <a:avLst>
              <a:gd name="adj" fmla="val 81395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807404" y="2055495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Agile Prototyping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807404" y="2470666"/>
            <a:ext cx="542889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Zero-build edge-simulated approach for rapid development cycles.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538799" y="3313867"/>
            <a:ext cx="5897523" cy="1320046"/>
          </a:xfrm>
          <a:prstGeom prst="roundRect">
            <a:avLst>
              <a:gd name="adj" fmla="val 8312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7515939" y="3313867"/>
            <a:ext cx="91440" cy="1320046"/>
          </a:xfrm>
          <a:prstGeom prst="roundRect">
            <a:avLst>
              <a:gd name="adj" fmla="val 81395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807404" y="3513892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Portal Development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807404" y="3929063"/>
            <a:ext cx="542889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Three distinct interfaces: Admin Dashboard, Patient Portal, and Driver Console.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538799" y="4772263"/>
            <a:ext cx="5897523" cy="1320046"/>
          </a:xfrm>
          <a:prstGeom prst="roundRect">
            <a:avLst>
              <a:gd name="adj" fmla="val 8312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515939" y="4772263"/>
            <a:ext cx="91440" cy="1320046"/>
          </a:xfrm>
          <a:prstGeom prst="roundRect">
            <a:avLst>
              <a:gd name="adj" fmla="val 81395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807404" y="4972288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Security Layer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807404" y="5387459"/>
            <a:ext cx="542889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JWT-style logic for secure role-based access control and data routing.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538799" y="6230660"/>
            <a:ext cx="5897523" cy="1320046"/>
          </a:xfrm>
          <a:prstGeom prst="roundRect">
            <a:avLst>
              <a:gd name="adj" fmla="val 8312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515939" y="6230660"/>
            <a:ext cx="91440" cy="1320046"/>
          </a:xfrm>
          <a:prstGeom prst="roundRect">
            <a:avLst>
              <a:gd name="adj" fmla="val 81395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807404" y="6430685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 Engine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7807404" y="6845856"/>
            <a:ext cx="542889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simulation engine with auto-sync capabilities for network resilience.</a:t>
            </a:r>
            <a:endParaRPr lang="en-US" sz="135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204839D-F6E8-B6CD-38F8-2CF253169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5184" y="0"/>
            <a:ext cx="2446446" cy="1170039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AA4BFF59-08FA-5D07-163B-B7BA584E95D8}"/>
              </a:ext>
            </a:extLst>
          </p:cNvPr>
          <p:cNvSpPr/>
          <p:nvPr/>
        </p:nvSpPr>
        <p:spPr>
          <a:xfrm>
            <a:off x="12566713" y="7693404"/>
            <a:ext cx="1984917" cy="46517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6027D72-E6E6-C198-771F-DE2A4EA0FF8C}"/>
              </a:ext>
            </a:extLst>
          </p:cNvPr>
          <p:cNvSpPr txBox="1"/>
          <p:nvPr/>
        </p:nvSpPr>
        <p:spPr>
          <a:xfrm>
            <a:off x="129607" y="124787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⊹ </a:t>
            </a:r>
            <a:r>
              <a:rPr lang="en-IN" b="1" dirty="0"/>
              <a:t>MediTrack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FD2CF86-2A0D-8A84-BC42-477B929368F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3752624" y="1707005"/>
            <a:ext cx="6606859" cy="46984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4628" y="608409"/>
            <a:ext cx="6199346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                                Feasibility &amp; Risk Management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834628" y="1584127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Feasibility Analysis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34628" y="2052518"/>
            <a:ext cx="6251377" cy="1694259"/>
          </a:xfrm>
          <a:prstGeom prst="roundRect">
            <a:avLst>
              <a:gd name="adj" fmla="val 6476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11768" y="2052518"/>
            <a:ext cx="91440" cy="1694259"/>
          </a:xfrm>
          <a:prstGeom prst="roundRect">
            <a:avLst>
              <a:gd name="adj" fmla="val 86279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113830" y="2263140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High Feasibility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3830" y="2712125"/>
            <a:ext cx="5761553" cy="82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Relies on universally supported Web APIs with lightweight JavaScript. Zero complex cloud infrastructure required for MVP deployment.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34628" y="3902273"/>
            <a:ext cx="6251377" cy="1419582"/>
          </a:xfrm>
          <a:prstGeom prst="roundRect">
            <a:avLst>
              <a:gd name="adj" fmla="val 7730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11768" y="3902273"/>
            <a:ext cx="91440" cy="1419582"/>
          </a:xfrm>
          <a:prstGeom prst="roundRect">
            <a:avLst>
              <a:gd name="adj" fmla="val 86279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113830" y="4112895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Minimal Infrastructure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13830" y="4561880"/>
            <a:ext cx="5761553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Client-side architecture eliminates server, database, and API costs for prototype demonstration.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551777" y="1584127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 Risk Management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551777" y="2052518"/>
            <a:ext cx="6251377" cy="1694259"/>
          </a:xfrm>
          <a:prstGeom prst="roundRect">
            <a:avLst>
              <a:gd name="adj" fmla="val 6476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528917" y="2052518"/>
            <a:ext cx="91440" cy="1694259"/>
          </a:xfrm>
          <a:prstGeom prst="roundRect">
            <a:avLst>
              <a:gd name="adj" fmla="val 86279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830979" y="2263140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Hospital Compliance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830979" y="2712125"/>
            <a:ext cx="5761553" cy="82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Challenge:</a:t>
            </a: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Hospital Compliance</a:t>
            </a:r>
            <a:endParaRPr lang="en-US" sz="1450" dirty="0"/>
          </a:p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Strategy:</a:t>
            </a: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1-click admin override interface reduces staff friction for updating bed counts.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551777" y="3902273"/>
            <a:ext cx="6251377" cy="1694259"/>
          </a:xfrm>
          <a:prstGeom prst="roundRect">
            <a:avLst>
              <a:gd name="adj" fmla="val 6476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528917" y="3902273"/>
            <a:ext cx="91440" cy="1694259"/>
          </a:xfrm>
          <a:prstGeom prst="roundRect">
            <a:avLst>
              <a:gd name="adj" fmla="val 86279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830979" y="4112895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Network Downtime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830979" y="4561880"/>
            <a:ext cx="5761553" cy="82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Challenge:</a:t>
            </a: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Network Downtime</a:t>
            </a:r>
            <a:endParaRPr lang="en-US" sz="1450" dirty="0"/>
          </a:p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Strategy:</a:t>
            </a: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Local caching with auto-sync when connection restores during disasters.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551777" y="5752028"/>
            <a:ext cx="6251377" cy="1694259"/>
          </a:xfrm>
          <a:prstGeom prst="roundRect">
            <a:avLst>
              <a:gd name="adj" fmla="val 6476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528917" y="5752028"/>
            <a:ext cx="91440" cy="1694259"/>
          </a:xfrm>
          <a:prstGeom prst="roundRect">
            <a:avLst>
              <a:gd name="adj" fmla="val 86279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830979" y="5962650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 Accuracy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830979" y="6411635"/>
            <a:ext cx="5761553" cy="82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Challenge:</a:t>
            </a: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Data Accuracy</a:t>
            </a:r>
            <a:endParaRPr lang="en-US" sz="1450" dirty="0"/>
          </a:p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Strategy:</a:t>
            </a: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Role-based verification system ensures reliable bed availability information.</a:t>
            </a:r>
            <a:endParaRPr lang="en-US" sz="14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985E245-22FA-2BB7-667E-09C234E17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5184" y="0"/>
            <a:ext cx="2446446" cy="1170039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7DC3323D-A75B-6C78-96F1-0BBE6B61B37A}"/>
              </a:ext>
            </a:extLst>
          </p:cNvPr>
          <p:cNvSpPr/>
          <p:nvPr/>
        </p:nvSpPr>
        <p:spPr>
          <a:xfrm>
            <a:off x="12566713" y="7693404"/>
            <a:ext cx="1984917" cy="46517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6611459-D544-8722-92D3-2BA7EA3C86F9}"/>
              </a:ext>
            </a:extLst>
          </p:cNvPr>
          <p:cNvSpPr txBox="1"/>
          <p:nvPr/>
        </p:nvSpPr>
        <p:spPr>
          <a:xfrm>
            <a:off x="129607" y="124787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⊹ </a:t>
            </a:r>
            <a:r>
              <a:rPr lang="en-IN" b="1" dirty="0"/>
              <a:t>MediTrack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6411947-5092-F218-9E9E-53C5024F6AA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3752624" y="1707005"/>
            <a:ext cx="6606859" cy="46984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765215"/>
            <a:ext cx="5316260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                                   Key Benefits &amp; Impact</a:t>
            </a:r>
            <a:endParaRPr lang="en-US" sz="4150" dirty="0"/>
          </a:p>
        </p:txBody>
      </p:sp>
      <p:sp>
        <p:nvSpPr>
          <p:cNvPr id="3" name="Shape 1"/>
          <p:cNvSpPr/>
          <p:nvPr/>
        </p:nvSpPr>
        <p:spPr>
          <a:xfrm>
            <a:off x="744260" y="1828324"/>
            <a:ext cx="4247674" cy="2718316"/>
          </a:xfrm>
          <a:prstGeom prst="roundRect">
            <a:avLst>
              <a:gd name="adj" fmla="val 3286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64525" y="2048589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9904" y="2223968"/>
            <a:ext cx="287060" cy="2870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4525" y="2885837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Social Impact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964525" y="3337679"/>
            <a:ext cx="3807143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Directly saves lives by optimizing the "Golden Hour" of medical emergency response.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5191244" y="1828324"/>
            <a:ext cx="4247793" cy="2718316"/>
          </a:xfrm>
          <a:prstGeom prst="roundRect">
            <a:avLst>
              <a:gd name="adj" fmla="val 3286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5411510" y="2048589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6889" y="2223968"/>
            <a:ext cx="287060" cy="2870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11510" y="2885837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Economic Impact</a:t>
            </a:r>
            <a:endParaRPr lang="en-US" sz="2050" dirty="0"/>
          </a:p>
        </p:txBody>
      </p:sp>
      <p:sp>
        <p:nvSpPr>
          <p:cNvPr id="12" name="Text 8"/>
          <p:cNvSpPr/>
          <p:nvPr/>
        </p:nvSpPr>
        <p:spPr>
          <a:xfrm>
            <a:off x="5411510" y="3337679"/>
            <a:ext cx="3807262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Optimizes ambulance fleet routing, reducing fuel costs and operational time for healthcare providers.</a:t>
            </a:r>
            <a:endParaRPr lang="en-US" sz="1650" dirty="0"/>
          </a:p>
        </p:txBody>
      </p:sp>
      <p:sp>
        <p:nvSpPr>
          <p:cNvPr id="13" name="Shape 9"/>
          <p:cNvSpPr/>
          <p:nvPr/>
        </p:nvSpPr>
        <p:spPr>
          <a:xfrm>
            <a:off x="9638348" y="1828324"/>
            <a:ext cx="4247793" cy="2718316"/>
          </a:xfrm>
          <a:prstGeom prst="roundRect">
            <a:avLst>
              <a:gd name="adj" fmla="val 3286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9858613" y="2048589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33992" y="2223968"/>
            <a:ext cx="287060" cy="2870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58613" y="2885837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Environmental Impact</a:t>
            </a:r>
            <a:endParaRPr lang="en-US" sz="2050" dirty="0"/>
          </a:p>
        </p:txBody>
      </p:sp>
      <p:sp>
        <p:nvSpPr>
          <p:cNvPr id="17" name="Text 12"/>
          <p:cNvSpPr/>
          <p:nvPr/>
        </p:nvSpPr>
        <p:spPr>
          <a:xfrm>
            <a:off x="9858613" y="3337679"/>
            <a:ext cx="3807262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 GPS routing reduces vehicle idling time and carbon emissions across emergency fleet.</a:t>
            </a:r>
            <a:endParaRPr lang="en-US" sz="1650" dirty="0"/>
          </a:p>
        </p:txBody>
      </p:sp>
      <p:sp>
        <p:nvSpPr>
          <p:cNvPr id="18" name="Shape 13"/>
          <p:cNvSpPr/>
          <p:nvPr/>
        </p:nvSpPr>
        <p:spPr>
          <a:xfrm>
            <a:off x="744260" y="4745950"/>
            <a:ext cx="4247674" cy="2718316"/>
          </a:xfrm>
          <a:prstGeom prst="roundRect">
            <a:avLst>
              <a:gd name="adj" fmla="val 3286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964525" y="4966216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9904" y="5141595"/>
            <a:ext cx="287060" cy="2870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64525" y="5803463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Operational Efficiency</a:t>
            </a:r>
            <a:endParaRPr lang="en-US" sz="2050" dirty="0"/>
          </a:p>
        </p:txBody>
      </p:sp>
      <p:sp>
        <p:nvSpPr>
          <p:cNvPr id="22" name="Text 16"/>
          <p:cNvSpPr/>
          <p:nvPr/>
        </p:nvSpPr>
        <p:spPr>
          <a:xfrm>
            <a:off x="964525" y="6255306"/>
            <a:ext cx="3807143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Streamlined emergency response processes reduce delays and improve coordination across dispatch teams.</a:t>
            </a:r>
            <a:endParaRPr lang="en-US" sz="1650" dirty="0"/>
          </a:p>
        </p:txBody>
      </p:sp>
      <p:sp>
        <p:nvSpPr>
          <p:cNvPr id="23" name="Shape 17"/>
          <p:cNvSpPr/>
          <p:nvPr/>
        </p:nvSpPr>
        <p:spPr>
          <a:xfrm>
            <a:off x="5191244" y="4745950"/>
            <a:ext cx="4247793" cy="2718316"/>
          </a:xfrm>
          <a:prstGeom prst="roundRect">
            <a:avLst>
              <a:gd name="adj" fmla="val 3286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5411510" y="4966216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86889" y="5141595"/>
            <a:ext cx="287060" cy="2870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11510" y="5803463"/>
            <a:ext cx="3357443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Data-Driven Decision Making</a:t>
            </a:r>
            <a:endParaRPr lang="en-US" sz="2050" dirty="0"/>
          </a:p>
        </p:txBody>
      </p:sp>
      <p:sp>
        <p:nvSpPr>
          <p:cNvPr id="27" name="Text 20"/>
          <p:cNvSpPr/>
          <p:nvPr/>
        </p:nvSpPr>
        <p:spPr>
          <a:xfrm>
            <a:off x="5411510" y="6255306"/>
            <a:ext cx="3807262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analytics support better resource allocation and faster response planning.</a:t>
            </a:r>
            <a:endParaRPr lang="en-US" sz="1650" dirty="0"/>
          </a:p>
        </p:txBody>
      </p:sp>
      <p:sp>
        <p:nvSpPr>
          <p:cNvPr id="28" name="Shape 21"/>
          <p:cNvSpPr/>
          <p:nvPr/>
        </p:nvSpPr>
        <p:spPr>
          <a:xfrm>
            <a:off x="9638348" y="4745950"/>
            <a:ext cx="4247793" cy="2718316"/>
          </a:xfrm>
          <a:prstGeom prst="roundRect">
            <a:avLst>
              <a:gd name="adj" fmla="val 3286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2"/>
          <p:cNvSpPr/>
          <p:nvPr/>
        </p:nvSpPr>
        <p:spPr>
          <a:xfrm>
            <a:off x="9858613" y="4966216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33992" y="5141595"/>
            <a:ext cx="287060" cy="2870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858613" y="5803463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Scalability</a:t>
            </a:r>
            <a:endParaRPr lang="en-US" sz="2050" dirty="0"/>
          </a:p>
        </p:txBody>
      </p:sp>
      <p:sp>
        <p:nvSpPr>
          <p:cNvPr id="32" name="Text 24"/>
          <p:cNvSpPr/>
          <p:nvPr/>
        </p:nvSpPr>
        <p:spPr>
          <a:xfrm>
            <a:off x="9858613" y="6255306"/>
            <a:ext cx="3807262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Easy deployment across multiple cities and regions supports rapid expansion without major rework.</a:t>
            </a:r>
            <a:endParaRPr lang="en-US" sz="165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8A0F44C-D4B1-F834-7193-A4E6330254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05184" y="0"/>
            <a:ext cx="2446446" cy="117003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5F2C657-FB07-48C1-C34E-A59DE32527F7}"/>
              </a:ext>
            </a:extLst>
          </p:cNvPr>
          <p:cNvSpPr/>
          <p:nvPr/>
        </p:nvSpPr>
        <p:spPr>
          <a:xfrm>
            <a:off x="12566713" y="7693404"/>
            <a:ext cx="1984917" cy="46517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6CF565-18A7-B876-3EB8-C6464F742E60}"/>
              </a:ext>
            </a:extLst>
          </p:cNvPr>
          <p:cNvSpPr txBox="1"/>
          <p:nvPr/>
        </p:nvSpPr>
        <p:spPr>
          <a:xfrm>
            <a:off x="179131" y="199496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⊹ </a:t>
            </a:r>
            <a:r>
              <a:rPr lang="en-IN" b="1" dirty="0"/>
              <a:t>MediTrack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C37634F-6799-3A6C-4198-A0B55D97BBE6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5000"/>
          </a:blip>
          <a:stretch>
            <a:fillRect/>
          </a:stretch>
        </p:blipFill>
        <p:spPr>
          <a:xfrm>
            <a:off x="3752624" y="1707005"/>
            <a:ext cx="6606859" cy="46984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8673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                                 References &amp; Research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649147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CFA"/>
          </a:solidFill>
          <a:ln w="3048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63310" y="3649147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42524" y="39064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Golden Hour Research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4396859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Medical studies on critical time windows in trauma response and emergency care protocols.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649147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CFA"/>
          </a:solidFill>
          <a:ln w="3048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186482" y="3649147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565696" y="3906441"/>
            <a:ext cx="30553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Leaflet.js Documentation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4396859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OpenStreetMap routing algorithms and mapping technology specifications.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649147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CFA"/>
          </a:solidFill>
          <a:ln w="3048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9609653" y="3649147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988868" y="3906441"/>
            <a:ext cx="29525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Edge Computing Studies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4396859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Resilient computing research for disaster management and emergency response scenarios.</a:t>
            </a:r>
            <a:endParaRPr lang="en-US" sz="17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81DE821-76B2-824E-1184-D0C625F66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5184" y="0"/>
            <a:ext cx="2446446" cy="117003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5FA1096-2556-CBC1-82E8-211C7820F55A}"/>
              </a:ext>
            </a:extLst>
          </p:cNvPr>
          <p:cNvSpPr/>
          <p:nvPr/>
        </p:nvSpPr>
        <p:spPr>
          <a:xfrm>
            <a:off x="12566713" y="7693404"/>
            <a:ext cx="1984917" cy="46517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4EFD79-E14B-95E5-18BE-1E431B39BD48}"/>
              </a:ext>
            </a:extLst>
          </p:cNvPr>
          <p:cNvSpPr txBox="1"/>
          <p:nvPr/>
        </p:nvSpPr>
        <p:spPr>
          <a:xfrm>
            <a:off x="45661" y="100024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⊹  </a:t>
            </a:r>
            <a:r>
              <a:rPr lang="en-IN" b="1" dirty="0"/>
              <a:t>MediTrack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8D6B56F-8BD2-1E4D-B88A-60A7890AAE4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3752624" y="1707005"/>
            <a:ext cx="6606859" cy="46984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86739"/>
            <a:ext cx="59843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                       Software &amp; Cost Analysis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649147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CFA"/>
          </a:solidFill>
          <a:ln w="3048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63310" y="3649147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42524" y="39064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Open Source Stack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4396859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100% free technology: HTML/CSS/JS, Leaflet.js, CartoDB Maps, Lucide Icons, VS Code.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649147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CFA"/>
          </a:solidFill>
          <a:ln w="3048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186482" y="3649147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565696" y="39064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Zero Server Costs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4396859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Client-side architecture eliminates database and API infrastructure requirements.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649147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CFA"/>
          </a:solidFill>
          <a:ln w="3048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9609653" y="3649147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988868" y="39064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MVP Total Cost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4396859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A95B9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$0.00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prototype deployment and demonstration.</a:t>
            </a:r>
            <a:endParaRPr lang="en-US" sz="17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EA16BF1-662F-63A6-7793-1DA665D1C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5184" y="0"/>
            <a:ext cx="2446446" cy="117003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A9EB9BB-6A20-4D9A-C182-8D649278FC2B}"/>
              </a:ext>
            </a:extLst>
          </p:cNvPr>
          <p:cNvSpPr/>
          <p:nvPr/>
        </p:nvSpPr>
        <p:spPr>
          <a:xfrm>
            <a:off x="12566713" y="7693404"/>
            <a:ext cx="1984917" cy="46517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481F97-88E0-CA4A-09A3-043E91500D30}"/>
              </a:ext>
            </a:extLst>
          </p:cNvPr>
          <p:cNvSpPr txBox="1"/>
          <p:nvPr/>
        </p:nvSpPr>
        <p:spPr>
          <a:xfrm>
            <a:off x="177286" y="128039"/>
            <a:ext cx="25982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⊹ </a:t>
            </a:r>
            <a:r>
              <a:rPr lang="en-IN" b="1" dirty="0"/>
              <a:t>MediTrack</a:t>
            </a:r>
          </a:p>
          <a:p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B50FF93-CDC1-56DD-20C6-BE6673A867D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3752624" y="1707005"/>
            <a:ext cx="6606859" cy="4698459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0CEA62F-36BC-5340-F1B1-E4189D56B403}"/>
              </a:ext>
            </a:extLst>
          </p:cNvPr>
          <p:cNvSpPr/>
          <p:nvPr/>
        </p:nvSpPr>
        <p:spPr>
          <a:xfrm>
            <a:off x="1059366" y="6233532"/>
            <a:ext cx="12924263" cy="155001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A30CA8-3A16-D6C3-3BC5-B17EAED6836D}"/>
              </a:ext>
            </a:extLst>
          </p:cNvPr>
          <p:cNvSpPr txBox="1"/>
          <p:nvPr/>
        </p:nvSpPr>
        <p:spPr>
          <a:xfrm>
            <a:off x="1538868" y="6405464"/>
            <a:ext cx="1204033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GitHub Link : </a:t>
            </a:r>
            <a:r>
              <a:rPr lang="en-US" sz="2400" b="1" dirty="0">
                <a:solidFill>
                  <a:srgbClr val="00B0F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https://github.com/MayuriUbale123/ICU-Ambulance</a:t>
            </a:r>
            <a:endParaRPr lang="en-US" sz="2400" b="1" dirty="0">
              <a:solidFill>
                <a:srgbClr val="00B0F0"/>
              </a:solidFill>
            </a:endParaRPr>
          </a:p>
          <a:p>
            <a:endParaRPr lang="en-US" sz="2400" b="1" dirty="0"/>
          </a:p>
          <a:p>
            <a:r>
              <a:rPr lang="en-US" sz="2400" b="1" dirty="0"/>
              <a:t>Project Link : </a:t>
            </a:r>
            <a:r>
              <a:rPr lang="en-IN" sz="2400" b="1" dirty="0">
                <a:solidFill>
                  <a:srgbClr val="00B0F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splendorous-madeleine-e00b99.netlify.app</a:t>
            </a:r>
            <a:endParaRPr lang="en-US" sz="2400" b="1" dirty="0">
              <a:solidFill>
                <a:srgbClr val="00B0F0"/>
              </a:solidFill>
            </a:endParaRPr>
          </a:p>
          <a:p>
            <a:endParaRPr lang="en-US" sz="24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641</Words>
  <Application>Microsoft Office PowerPoint</Application>
  <PresentationFormat>Custom</PresentationFormat>
  <Paragraphs>104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Times New Roman</vt:lpstr>
      <vt:lpstr>Wingdings</vt:lpstr>
      <vt:lpstr>Open Sans</vt:lpstr>
      <vt:lpstr>Crimson Pro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omakr dhawade</dc:creator>
  <cp:lastModifiedBy>Omkar Dhawade</cp:lastModifiedBy>
  <cp:revision>5</cp:revision>
  <dcterms:created xsi:type="dcterms:W3CDTF">2026-04-17T21:45:35Z</dcterms:created>
  <dcterms:modified xsi:type="dcterms:W3CDTF">2026-04-18T04:50:23Z</dcterms:modified>
</cp:coreProperties>
</file>